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374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 decision-support project, not just a dashboard build. The single sentence to land: over 33 years Egypt grew its industry while improving energy and carbon efficiency — but that progress is now under pressure. This deck tells that story and ends with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Signpost the flow: problem, national context, method, then the three analytical lenses, then insight and action. Emphasize it mirrors a real consulting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tension as a genuine trade-off, not a slogan. The three cards are the forces; the gold bar is the exact question the three dashboards are built to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pillar to something the committee already cares about. The fifth — data-driven decision making — is where this project itself becomes the deliverable Vision 2030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two full months went into understanding the problem and data before a single visual — that front-loading is why the KPIs actually map to Vision 2030 rather than to whatever the dataset happened to contain.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13 aloud. Explain the logic: raw levels, then year-on-year growth, then the ratio measures (intensity, efficiency, decoupling) that let us compare growth against its energy and carbon cost. The decoupling indices are the clever ones — call them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0.99 correlation — industry and GDP move together almost perfectly, so industry is not a side story, it's the engine. Note the share of GDP peaked ~40% around 2013-14 and has eased to ~32.7%, a structural signal to revisit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good news: energy grew slower than output (2.2% vs 3.85%) and intensity fell from ~8.2 to ~5.0 over the period. The warning: intensity crept back up 2019-2023 (4.3 to 5.5). The risk: the mix is ~99.9% fossil, renewables just 0.1% — that's the single biggest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33 years emissions rose far slower than output (1.55% CAGR) and carbon intensity roughly halved — real decoupling. But flag 2023: output fell -0.6% while CO₂ rose +8.8% and energy +5.8%. That single recent year is the case for acting now rather than declaring victory.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six into a narrative: three decades of genuine progress (insights 1,3,4), a structural watch-item (2), a recent red flag (5), and the hopeful conclusion (6). The story is 'we proved it works — now defend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matters: renewables first (biggest lever, 0.1% today), then diagnose the slippage, then the monitoring cadence change. Close on recommendation 6 — this project itself becomes the governance tool Vision 2030 calls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in delivery — one line per person: name and what they owned (data modeling, DAX, dashboard design, research,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one-sentence thesis: Egypt has already shown growth and sustainability can move together — the job now is to defend that progress with renewables, tighter monitoring and evidence-based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pn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035040" cy="6035040"/>
          </a:xfrm>
          <a:prstGeom prst="ellipse">
            <a:avLst/>
          </a:prstGeom>
          <a:solidFill>
            <a:srgbClr val="0E7C86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3108960"/>
            <a:ext cx="5029200" cy="5029200"/>
          </a:xfrm>
          <a:prstGeom prst="ellipse">
            <a:avLst/>
          </a:prstGeom>
          <a:solidFill>
            <a:srgbClr val="C8901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·  POWER BI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Egypt's Industrial Sector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industrial economic growth, energy efficiency and environmental sustainability — in support of Egypt Vision 2030.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133F49"/>
          </a:solidFill>
          <a:ln w="12700">
            <a:solidFill>
              <a:srgbClr val="244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" y="4773168"/>
            <a:ext cx="512064" cy="512064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assets/icon_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90118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4617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51960" y="46177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133F49"/>
          </a:solidFill>
          <a:ln w="12700">
            <a:solidFill>
              <a:srgbClr val="244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53128" y="4773168"/>
            <a:ext cx="512064" cy="512064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assets/icon_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49011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93208" y="4617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680960" y="4617720"/>
            <a:ext cx="3246120" cy="822960"/>
          </a:xfrm>
          <a:prstGeom prst="roundRect">
            <a:avLst>
              <a:gd name="adj" fmla="val 11111"/>
            </a:avLst>
          </a:prstGeom>
          <a:solidFill>
            <a:srgbClr val="133F49"/>
          </a:solidFill>
          <a:ln w="12700">
            <a:solidFill>
              <a:srgbClr val="244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82128" y="4773168"/>
            <a:ext cx="512064" cy="512064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icon_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490118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22208" y="4617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Sustainability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8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  1990 – 2023      |      Constant 2015 USD      |      Egypt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STORY UNFOLDS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691640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481328" y="18928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icon_balanc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00710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84832" y="1691640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industrial sector matters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73952" y="1691640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7242048" y="18928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icon_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348" y="200710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45552" y="1691640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Vision 2030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goals this project serves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2679192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13232" y="2679192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1481328" y="288036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icon_calend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628" y="29946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84832" y="2679192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understanding to dashboards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09360" y="2679192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473952" y="2679192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7242048" y="288036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assets/icon_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348" y="299466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45552" y="2679192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Measures &amp; KPIs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toolkit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48640" y="3666744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13232" y="3666744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Shape 20"/>
          <p:cNvSpPr/>
          <p:nvPr/>
        </p:nvSpPr>
        <p:spPr>
          <a:xfrm>
            <a:off x="1481328" y="38679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assets/icon_chartLi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628" y="3982212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084832" y="3666744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Performance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growth &amp; contribution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6309360" y="3666744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6473952" y="3666744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Shape 24"/>
          <p:cNvSpPr/>
          <p:nvPr/>
        </p:nvSpPr>
        <p:spPr>
          <a:xfrm>
            <a:off x="7242048" y="38679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assets/icon_bo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6348" y="3982212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845552" y="3666744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doing more with less</a:t>
            </a:r>
            <a:endParaRPr lang="en-US" sz="1450" dirty="0"/>
          </a:p>
        </p:txBody>
      </p:sp>
      <p:sp>
        <p:nvSpPr>
          <p:cNvPr id="34" name="Shape 26"/>
          <p:cNvSpPr/>
          <p:nvPr/>
        </p:nvSpPr>
        <p:spPr>
          <a:xfrm>
            <a:off x="548640" y="4654296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713232" y="4654296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6" name="Shape 28"/>
          <p:cNvSpPr/>
          <p:nvPr/>
        </p:nvSpPr>
        <p:spPr>
          <a:xfrm>
            <a:off x="1481328" y="485546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assets/icon_leaf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5628" y="4969764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084832" y="4654296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Sustainability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— the carbon question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6309360" y="4654296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1"/>
          <p:cNvSpPr/>
          <p:nvPr/>
        </p:nvSpPr>
        <p:spPr>
          <a:xfrm>
            <a:off x="6473952" y="4654296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41" name="Shape 32"/>
          <p:cNvSpPr/>
          <p:nvPr/>
        </p:nvSpPr>
        <p:spPr>
          <a:xfrm>
            <a:off x="7242048" y="485546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assets/icon_lightbulb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6348" y="4969764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845552" y="4654296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1450" dirty="0"/>
          </a:p>
        </p:txBody>
      </p:sp>
      <p:sp>
        <p:nvSpPr>
          <p:cNvPr id="44" name="Shape 34"/>
          <p:cNvSpPr/>
          <p:nvPr/>
        </p:nvSpPr>
        <p:spPr>
          <a:xfrm>
            <a:off x="548640" y="5641848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/>
          <p:nvPr/>
        </p:nvSpPr>
        <p:spPr>
          <a:xfrm>
            <a:off x="713232" y="5641848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46" name="Shape 36"/>
          <p:cNvSpPr/>
          <p:nvPr/>
        </p:nvSpPr>
        <p:spPr>
          <a:xfrm>
            <a:off x="1481328" y="584301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8" descr="assets/icon_checkCircl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5628" y="5957316"/>
            <a:ext cx="228600" cy="22860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2084832" y="5641848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450" dirty="0"/>
          </a:p>
        </p:txBody>
      </p:sp>
      <p:sp>
        <p:nvSpPr>
          <p:cNvPr id="49" name="Shape 38"/>
          <p:cNvSpPr/>
          <p:nvPr/>
        </p:nvSpPr>
        <p:spPr>
          <a:xfrm>
            <a:off x="6309360" y="5641848"/>
            <a:ext cx="5440680" cy="859536"/>
          </a:xfrm>
          <a:prstGeom prst="roundRect">
            <a:avLst>
              <a:gd name="adj" fmla="val 11702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39"/>
          <p:cNvSpPr/>
          <p:nvPr/>
        </p:nvSpPr>
        <p:spPr>
          <a:xfrm>
            <a:off x="6473952" y="5641848"/>
            <a:ext cx="8229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9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51" name="Shape 40"/>
          <p:cNvSpPr/>
          <p:nvPr/>
        </p:nvSpPr>
        <p:spPr>
          <a:xfrm>
            <a:off x="7242048" y="584301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9" descr="assets/icon_users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56348" y="5957316"/>
            <a:ext cx="228600" cy="22860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845552" y="5641848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4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this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alone is no longer the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is one of the largest engines of Egypt's economy — it drives GDP, employment and exports. But industrial expansion pulls on two constrained resources at once: it consumes energy, and it emits carbon. The real challenge for policymakers is not simply growing output, but growing it while keeping energy use and environmental impact in balance.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566160" cy="2148840"/>
          </a:xfrm>
          <a:prstGeom prst="roundRect">
            <a:avLst>
              <a:gd name="adj" fmla="val 4681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3218688"/>
            <a:ext cx="777240" cy="77724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icon_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3412998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96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industrial output to raise national income and living standards.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2926080"/>
            <a:ext cx="3566160" cy="2148840"/>
          </a:xfrm>
          <a:prstGeom prst="roundRect">
            <a:avLst>
              <a:gd name="adj" fmla="val 4681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90288" y="3218688"/>
            <a:ext cx="777240" cy="777240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icon_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598" y="3412998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4096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590288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of output demands power — a finite, costly and emission-heavy input.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83296" y="2926080"/>
            <a:ext cx="3566160" cy="2148840"/>
          </a:xfrm>
          <a:prstGeom prst="roundRect">
            <a:avLst>
              <a:gd name="adj" fmla="val 4681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57616" y="3218688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icon_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926" y="3412998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4096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357616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activity releases CO₂, placing Egypt's climate commitments at stake.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68680" y="5586984"/>
            <a:ext cx="502920" cy="502920"/>
          </a:xfrm>
          <a:prstGeom prst="ellipse">
            <a:avLst/>
          </a:prstGeom>
          <a:solidFill>
            <a:srgbClr val="C890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assets/icon_balanc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5712714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34924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question:  </a:t>
            </a:r>
            <a:r>
              <a:rPr lang="en-US" sz="1350" dirty="0">
                <a:solidFill>
                  <a:srgbClr val="E6E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Egypt keep its industry growing while using less energy per unit and emitting less carbon per unit? This project answers that with data.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serve Egypt Vision 2030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commits Egypt to a competitive, diversified economy that grows responsibly. This project turns five of its pillars into measurable, monitorable KPIs.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139696" cy="3566160"/>
          </a:xfrm>
          <a:prstGeom prst="roundRect">
            <a:avLst>
              <a:gd name="adj" fmla="val 4701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4148" y="2670048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icon_indust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318" y="2887218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37033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Development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44348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manufacturing as a driver of a diversified economy.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16352" y="2286000"/>
            <a:ext cx="2139696" cy="3566160"/>
          </a:xfrm>
          <a:prstGeom prst="roundRect">
            <a:avLst>
              <a:gd name="adj" fmla="val 4701"/>
            </a:avLst>
          </a:prstGeom>
          <a:solidFill>
            <a:srgbClr val="EAF2F3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2670048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icon_seedl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030" y="2887218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37033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Growth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980944" y="44348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output without exhausting resources or the environment.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84064" y="2286000"/>
            <a:ext cx="2139696" cy="3566160"/>
          </a:xfrm>
          <a:prstGeom prst="roundRect">
            <a:avLst>
              <a:gd name="adj" fmla="val 4701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19572" y="2670048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icon_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742" y="2887218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37033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248656" y="44348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more value from every unit of energy consumed.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51776" y="2286000"/>
            <a:ext cx="2139696" cy="3566160"/>
          </a:xfrm>
          <a:prstGeom prst="roundRect">
            <a:avLst>
              <a:gd name="adj" fmla="val 4701"/>
            </a:avLst>
          </a:prstGeom>
          <a:solidFill>
            <a:srgbClr val="EAF2F3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987284" y="2670048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assets/icon_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454" y="2887218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79792" y="37033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516368" y="44348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carbon intensity of industrial activity over time.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619488" y="2286000"/>
            <a:ext cx="2139696" cy="3566160"/>
          </a:xfrm>
          <a:prstGeom prst="roundRect">
            <a:avLst>
              <a:gd name="adj" fmla="val 4701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0254996" y="2670048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assets/icon_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2166" y="2887218"/>
            <a:ext cx="434340" cy="4343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47504" y="37033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784080" y="443484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with evidence through live analytical dashboards.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three months, from framing the business problem to a tested, decision-ready set of dashboards.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416052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658368" cy="658368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0" y="2441448"/>
            <a:ext cx="621792" cy="621792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assets/icon_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259689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227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Collection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9959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EAF2F3"/>
          </a:solidFill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3995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454456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business problem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datasets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Vision 2030 objectives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KPIs</a:t>
            </a:r>
            <a:endParaRPr lang="en-US" sz="1200" dirty="0"/>
          </a:p>
        </p:txBody>
      </p:sp>
      <p:pic>
        <p:nvPicPr>
          <p:cNvPr id="14" name="Image 1" descr="assets/icon_arrowRigh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656" y="4082796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88536" y="2148840"/>
            <a:ext cx="3611880" cy="416052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62856" y="2423160"/>
            <a:ext cx="658368" cy="658368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562856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6940296" y="2441448"/>
            <a:ext cx="621792" cy="621792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assets/icon_broo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259689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62856" y="3227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Preparation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62856" y="39959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EAF2F3"/>
          </a:solidFill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562856" y="3995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D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608576" y="454456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relationships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calendar table</a:t>
            </a:r>
            <a:endParaRPr lang="en-US" sz="1200" dirty="0"/>
          </a:p>
        </p:txBody>
      </p:sp>
      <p:pic>
        <p:nvPicPr>
          <p:cNvPr id="24" name="Image 3" descr="assets/icon_arrowRigh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082796"/>
            <a:ext cx="292608" cy="29260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028432" y="2148840"/>
            <a:ext cx="3611880" cy="416052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302752" y="2423160"/>
            <a:ext cx="658368" cy="65836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8302752" y="2423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10680192" y="2441448"/>
            <a:ext cx="621792" cy="621792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assets/icon_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5640" y="2596896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302752" y="3227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8302752" y="3995928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EAF2F3"/>
          </a:solidFill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8302752" y="39959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8348472" y="454456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DAX measures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design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Measures &amp; KPIs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DAX measures, grouped by the three lenses of the analysis — each chosen to answer a specific business question.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0595" y="1874520"/>
            <a:ext cx="2959670" cy="4434840"/>
          </a:xfrm>
          <a:prstGeom prst="roundRect">
            <a:avLst>
              <a:gd name="adj" fmla="val 2785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6627" y="2130552"/>
            <a:ext cx="566928" cy="566928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icon_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59" y="2272284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3283" y="21305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06627" y="2807208"/>
            <a:ext cx="2143801" cy="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43203" y="2953512"/>
            <a:ext cx="30632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YoY %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of the whole economy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3203" y="4020312"/>
            <a:ext cx="30632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Growth YoY %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of the industrial sector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3203" y="5087112"/>
            <a:ext cx="30632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Contribution to GDP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industry drives GDP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66298" y="1874520"/>
            <a:ext cx="2959670" cy="4434840"/>
          </a:xfrm>
          <a:prstGeom prst="roundRect">
            <a:avLst>
              <a:gd name="adj" fmla="val 2785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22330" y="2130552"/>
            <a:ext cx="566928" cy="566928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assets/icon_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062" y="2272284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98986" y="21305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D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3622330" y="2807208"/>
            <a:ext cx="2282455" cy="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658906" y="2953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Energy Consumption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demand of industry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658906" y="35935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Growth YoY %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demand is rising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658906" y="42336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Intensity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used per unit of output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658906" y="48737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Efficiency Ratio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growth vs energy growth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658906" y="5513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Decoupling Index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growth breaking free of energy?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582000" y="1874520"/>
            <a:ext cx="2794519" cy="4434840"/>
          </a:xfrm>
          <a:prstGeom prst="roundRect">
            <a:avLst>
              <a:gd name="adj" fmla="val 2785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838032" y="2130552"/>
            <a:ext cx="566928" cy="56692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assets/icon_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764" y="2272284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14688" y="21305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6838032" y="2807208"/>
            <a:ext cx="2304475" cy="32004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874608" y="295351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CO₂ Emissions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carbon from industry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874608" y="35935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Growth YoY %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emissions are rising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874608" y="42336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emitted per unit of output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874608" y="487375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Emission Factor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unit of energy used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874608" y="55138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Decoupling Index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growth breaking free of carbon?</a:t>
            </a:r>
            <a:endParaRPr lang="en-US" sz="1250" dirty="0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F5D4F936-F605-2FC1-BE84-2360073EA6B5}"/>
              </a:ext>
            </a:extLst>
          </p:cNvPr>
          <p:cNvSpPr/>
          <p:nvPr/>
        </p:nvSpPr>
        <p:spPr>
          <a:xfrm>
            <a:off x="9576380" y="1874520"/>
            <a:ext cx="2465025" cy="4434840"/>
          </a:xfrm>
          <a:prstGeom prst="roundRect">
            <a:avLst>
              <a:gd name="adj" fmla="val 2785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AE244810-5C19-201D-8AF6-ED3F6A2E208E}"/>
              </a:ext>
            </a:extLst>
          </p:cNvPr>
          <p:cNvSpPr/>
          <p:nvPr/>
        </p:nvSpPr>
        <p:spPr>
          <a:xfrm>
            <a:off x="9832412" y="2178436"/>
            <a:ext cx="472178" cy="49847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9170A163-B6BC-8499-29FE-F6C7454E8BA9}"/>
              </a:ext>
            </a:extLst>
          </p:cNvPr>
          <p:cNvSpPr/>
          <p:nvPr/>
        </p:nvSpPr>
        <p:spPr>
          <a:xfrm>
            <a:off x="9832412" y="2807208"/>
            <a:ext cx="1785511" cy="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7FE9415E-8EA7-E5C4-5918-4F1A26D04183}"/>
              </a:ext>
            </a:extLst>
          </p:cNvPr>
          <p:cNvSpPr/>
          <p:nvPr/>
        </p:nvSpPr>
        <p:spPr>
          <a:xfrm>
            <a:off x="9868988" y="2953512"/>
            <a:ext cx="255128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Industry</a:t>
            </a:r>
            <a:endParaRPr lang="en-US" sz="125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E3A837F6-2FA6-90CA-8809-35072747883E}"/>
              </a:ext>
            </a:extLst>
          </p:cNvPr>
          <p:cNvSpPr/>
          <p:nvPr/>
        </p:nvSpPr>
        <p:spPr>
          <a:xfrm>
            <a:off x="9832412" y="3786145"/>
            <a:ext cx="255128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Value</a:t>
            </a:r>
            <a:endParaRPr lang="en-US" sz="1250" dirty="0"/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38AF3AB0-5434-FCE9-7A79-D597EEEFD26E}"/>
              </a:ext>
            </a:extLst>
          </p:cNvPr>
          <p:cNvSpPr/>
          <p:nvPr/>
        </p:nvSpPr>
        <p:spPr>
          <a:xfrm>
            <a:off x="9868988" y="5534639"/>
            <a:ext cx="255128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Value</a:t>
            </a:r>
            <a:endParaRPr lang="en-US" sz="125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38705FF-1F2B-58BF-31D6-7AED24ED7337}"/>
              </a:ext>
            </a:extLst>
          </p:cNvPr>
          <p:cNvSpPr/>
          <p:nvPr/>
        </p:nvSpPr>
        <p:spPr>
          <a:xfrm>
            <a:off x="10446321" y="21259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</a:t>
            </a:r>
            <a:endParaRPr lang="en-US" sz="1700" dirty="0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B176E948-B250-225D-3122-BFDE4523B128}"/>
              </a:ext>
            </a:extLst>
          </p:cNvPr>
          <p:cNvSpPr/>
          <p:nvPr/>
        </p:nvSpPr>
        <p:spPr>
          <a:xfrm>
            <a:off x="9868988" y="4719564"/>
            <a:ext cx="255128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Energy</a:t>
            </a:r>
            <a:endParaRPr lang="en-US" sz="1250" dirty="0"/>
          </a:p>
        </p:txBody>
      </p:sp>
      <p:pic>
        <p:nvPicPr>
          <p:cNvPr id="62" name="Graphic 61" descr="Gauge with solid fill">
            <a:extLst>
              <a:ext uri="{FF2B5EF4-FFF2-40B4-BE49-F238E27FC236}">
                <a16:creationId xmlns:a16="http://schemas.microsoft.com/office/drawing/2014/main" id="{07816926-F7E5-6934-03CB-A99E6F1EE6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68988" y="2199010"/>
            <a:ext cx="405927" cy="4059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on_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65151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&amp; Industrial Performance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81328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 </a:t>
            </a:r>
            <a:r>
              <a:rPr lang="en-US" sz="13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Egypt's industrial sector contributed to economic performance over time?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93776" y="1453896"/>
            <a:ext cx="7150608" cy="408193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E2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dash_econo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7040880" cy="39722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5411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interactive in the report file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818120" y="1508760"/>
            <a:ext cx="3840480" cy="1883664"/>
          </a:xfrm>
          <a:prstGeom prst="roundRect">
            <a:avLst>
              <a:gd name="adj" fmla="val 5340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8074152" y="1746504"/>
            <a:ext cx="457200" cy="45720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assets/icon_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452" y="186080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41080" y="17465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ANALYZES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92440" y="2258568"/>
            <a:ext cx="33101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and trajectory of industrial value added (1990–2023) and how tightly it tracks national GDP — trends, growth rates and industry's contribution to the wider economy.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18120" y="3593592"/>
            <a:ext cx="3840480" cy="1883664"/>
          </a:xfrm>
          <a:prstGeom prst="roundRect">
            <a:avLst>
              <a:gd name="adj" fmla="val 5340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8074152" y="3831336"/>
            <a:ext cx="457200" cy="457200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assets/icon_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452" y="394563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41080" y="38313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092440" y="4343400"/>
            <a:ext cx="33101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establishes industry as a core engine of Egypt's economy and quantifies how closely national prosperity is tied to industrial output — the baseline for every efficiency and sustainability decision that follows.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94944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694944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GDP–industry correlation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953512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099816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3.85%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3099816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CAGR, 1990–2023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358384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504688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32.7%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5504688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share of GDP, 2023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on_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65151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Efficiency Analysis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81328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D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 </a:t>
            </a:r>
            <a:r>
              <a:rPr lang="en-US" sz="13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Egypt achieving industrial growth with higher energy efficiency?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93776" y="1453896"/>
            <a:ext cx="7150608" cy="408193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E2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dash_energ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7040880" cy="39722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5411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interactive in the report file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818120" y="1508760"/>
            <a:ext cx="3840480" cy="1883664"/>
          </a:xfrm>
          <a:prstGeom prst="roundRect">
            <a:avLst>
              <a:gd name="adj" fmla="val 5340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8074152" y="1746504"/>
            <a:ext cx="457200" cy="457200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assets/icon_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452" y="186080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41080" y="17465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D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ANALYZES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92440" y="2258568"/>
            <a:ext cx="33101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energy industry burns to produce each unit of output — energy intensity, the industrial fuel mix, and whether output growth is decoupling from energy consumption.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18120" y="3593592"/>
            <a:ext cx="3840480" cy="1883664"/>
          </a:xfrm>
          <a:prstGeom prst="roundRect">
            <a:avLst>
              <a:gd name="adj" fmla="val 5340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8074152" y="3831336"/>
            <a:ext cx="457200" cy="457200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assets/icon_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452" y="394563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41080" y="38313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D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092440" y="4343400"/>
            <a:ext cx="33101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decides whether industrial expansion stays affordable and sustainable. It shows if Egypt is producing more with less — and exposes the fuel-mix risk that drives future emissions.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94944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2.2%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694944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CAGR vs 3.85% output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953512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099816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 → 5.0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3099816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intensity, toe / M$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358384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504688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5504688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in energy mix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icon_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65151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Sustainability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81328" y="9326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 </a:t>
            </a:r>
            <a:r>
              <a:rPr lang="en-US" sz="13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Egypt achieving industrial growth while reducing environmental impact?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93776" y="1453896"/>
            <a:ext cx="7150608" cy="4081930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E2F38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dash_environm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08760"/>
            <a:ext cx="7040880" cy="39722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55411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dashboard — interactive in the report file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818120" y="1508760"/>
            <a:ext cx="3840480" cy="1883664"/>
          </a:xfrm>
          <a:prstGeom prst="roundRect">
            <a:avLst>
              <a:gd name="adj" fmla="val 5340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8074152" y="1746504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assets/icon_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452" y="186080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41080" y="17465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ANALYZES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92440" y="2258568"/>
            <a:ext cx="33101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CO₂ emissions and carbon intensity over time, and whether emissions are decoupling from economic growth — the environmental cost of each unit of industrial value.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18120" y="3593592"/>
            <a:ext cx="3840480" cy="1883664"/>
          </a:xfrm>
          <a:prstGeom prst="roundRect">
            <a:avLst>
              <a:gd name="adj" fmla="val 5340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8074152" y="3831336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assets/icon_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452" y="394563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41080" y="38313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092440" y="4343400"/>
            <a:ext cx="33101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economic ambition to climate responsibility, testing whether Egypt can keep growing while cutting the carbon cost of that growth — the essence of Vision 2030's sustainability pledge.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94944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1.55%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694944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CAGR vs 3.85% output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953512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099816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 → 0.26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3099816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intensity, tCO₂ / M$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358384" y="5138928"/>
            <a:ext cx="2231136" cy="932688"/>
          </a:xfrm>
          <a:prstGeom prst="roundRect">
            <a:avLst>
              <a:gd name="adj" fmla="val 8824"/>
            </a:avLst>
          </a:prstGeom>
          <a:solidFill>
            <a:srgbClr val="0E2F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504688" y="52303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4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5504688" y="5687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CBDD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turned negative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874520"/>
            <a:ext cx="566928" cy="566928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on_indust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0162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746504"/>
            <a:ext cx="4270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is a true growth engine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value added rose from ~$43B to ~$148B (1990–2023) — a 3.85% CAGR that moves almost in lockstep with GDP (correlation 0.99).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08776" y="1600200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64808" y="1874520"/>
            <a:ext cx="566928" cy="566928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icon_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201625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746504"/>
            <a:ext cx="4270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its GDP share is easing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Industry's contribution to GDP peaked near 40% around 2013–14 and has since settled around 32.7% — a structural shift worth monitoring.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118104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4672" y="3392424"/>
            <a:ext cx="566928" cy="566928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_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3534156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17904" y="3264408"/>
            <a:ext cx="4270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improved for decades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intensity fell from ~8.2 to ~5.0 toe/M$, and industrial energy grew slower (2.2%) than output (3.85%) — more value from less power.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208776" y="3118104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464808" y="3392424"/>
            <a:ext cx="566928" cy="56692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_smo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3534156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264408"/>
            <a:ext cx="4270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decoupled from growth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CO₂ rose only 1.55% a year while carbon intensity roughly halved (0.54 → 0.26 tCO₂/M$) — growth got cleaner over time.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636008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4F8F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04672" y="4910328"/>
            <a:ext cx="566928" cy="566928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assets/icon_sear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5052060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17904" y="4782312"/>
            <a:ext cx="4270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recent reversal is emerging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2019 energy intensity crept back up (4.3 → 5.5); in 2023 output fell −0.6% while energy (+5.8%) and CO₂ (+8.8%) rose — decoupling turned negative.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208776" y="4636008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6464808" y="4910328"/>
            <a:ext cx="566928" cy="56692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assets/icon_seedl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6540" y="5052060"/>
            <a:ext cx="283464" cy="28346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78040" y="4782312"/>
            <a:ext cx="4270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and sustainability can coexist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33-year record proves efficiency lets the economy grow while cutting energy and carbon per unit — provided the recent slippage is corrected.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89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2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" y="1911096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19110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pic>
        <p:nvPicPr>
          <p:cNvPr id="7" name="Image 0" descr="assets/icon_solar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819656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1746504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renewable adoption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are just 0.1% of the industrial energy mix. Even modest solar and wind investment directly improves the carbon emission factor.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08776" y="1600200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911096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28232" y="19110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pic>
        <p:nvPicPr>
          <p:cNvPr id="12" name="Image 1" descr="assets/icon_search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1819656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24344" y="1746504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recent slippage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why efficiency reversed after 2019 and decoupling turned negative — before short-term regression becomes a long-term trend.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3118104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8096" y="342900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68096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pic>
        <p:nvPicPr>
          <p:cNvPr id="17" name="Image 2" descr="assets/icon_gaug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333756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64208" y="326440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KPIs quarterly, not yearly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Growth Efficiency Ratio as an early-warning signal to catch slippage (as in 2021 and 2023) months earlier.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208776" y="3118104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28232" y="342900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28232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pic>
        <p:nvPicPr>
          <p:cNvPr id="22" name="Image 3" descr="assets/icon_cubes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6224" y="3337560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24344" y="3264408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the industrial base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industry's GDP share slipping from its 2014 peak, clarify whether other sectors are outpacing it or industry is stalling.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548640" y="4636008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68096" y="4946904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68096" y="49469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pic>
        <p:nvPicPr>
          <p:cNvPr id="27" name="Image 4" descr="assets/icon_recycle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6088" y="4855464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64208" y="478231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reliance on gas and coal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 and coal are 66.5% of the mix combined; shifting toward cleaner sources reverses the recent carbon-intensity uptick.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6208776" y="4636008"/>
            <a:ext cx="544068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428232" y="4946904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6428232" y="49469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pic>
        <p:nvPicPr>
          <p:cNvPr id="32" name="Image 5" descr="assets/icon_database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6224" y="4855464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24344" y="478231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C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Institutionalize Power BI</a:t>
            </a:r>
            <a:endParaRPr lang="en-US" sz="145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these dashboards as a standing decision-support tool for regular, evidence-based policy reviews.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2194560"/>
            <a:ext cx="5029200" cy="5029200"/>
          </a:xfrm>
          <a:prstGeom prst="ellipse">
            <a:avLst/>
          </a:prstGeom>
          <a:solidFill>
            <a:srgbClr val="C8901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THE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53796" y="19202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33F4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36676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Shaban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6676" y="3675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</a:p>
        </p:txBody>
      </p:sp>
      <p:sp>
        <p:nvSpPr>
          <p:cNvPr id="11" name="Shape 8"/>
          <p:cNvSpPr/>
          <p:nvPr/>
        </p:nvSpPr>
        <p:spPr>
          <a:xfrm>
            <a:off x="4448556" y="19202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33F4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617720" y="3629857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 Ashour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243316" y="1900123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33F4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8456534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Alaa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243316" y="44348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33F4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9363456" y="4782312"/>
            <a:ext cx="1051560" cy="1051560"/>
          </a:xfrm>
          <a:prstGeom prst="ellipse">
            <a:avLst/>
          </a:prstGeom>
          <a:solidFill>
            <a:srgbClr val="1C4A56"/>
          </a:solidFill>
          <a:ln w="19050">
            <a:solidFill>
              <a:srgbClr val="C89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assets/icon_user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893" y="5076749"/>
            <a:ext cx="462686" cy="46268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26196" y="6192317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Saad</a:t>
            </a:r>
            <a:endParaRPr lang="en-US" sz="15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1D88110-7361-6B71-C33D-3FD9D913F3EE}"/>
              </a:ext>
            </a:extLst>
          </p:cNvPr>
          <p:cNvSpPr/>
          <p:nvPr/>
        </p:nvSpPr>
        <p:spPr>
          <a:xfrm>
            <a:off x="1353312" y="1613916"/>
            <a:ext cx="1561338" cy="1467612"/>
          </a:xfrm>
          <a:prstGeom prst="ellipse">
            <a:avLst/>
          </a:prstGeom>
          <a:blipFill>
            <a:blip r:embed="rId4"/>
            <a:stretch>
              <a:fillRect l="-8781" t="-5296" r="-7731" b="-1121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8F3CE55-BFD2-5691-2D5F-CF7412724BDA}"/>
              </a:ext>
            </a:extLst>
          </p:cNvPr>
          <p:cNvSpPr/>
          <p:nvPr/>
        </p:nvSpPr>
        <p:spPr>
          <a:xfrm>
            <a:off x="5361290" y="2027984"/>
            <a:ext cx="1438940" cy="1430433"/>
          </a:xfrm>
          <a:prstGeom prst="ellipse">
            <a:avLst/>
          </a:prstGeom>
          <a:blipFill>
            <a:blip r:embed="rId5"/>
            <a:stretch>
              <a:fillRect l="-8957" t="-2" r="-7555" b="-1651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0ED3D32-9B8B-A0C8-0AA9-2DC520D0D4C4}"/>
              </a:ext>
            </a:extLst>
          </p:cNvPr>
          <p:cNvSpPr/>
          <p:nvPr/>
        </p:nvSpPr>
        <p:spPr>
          <a:xfrm rot="5400000">
            <a:off x="9285306" y="2044287"/>
            <a:ext cx="1438940" cy="1430433"/>
          </a:xfrm>
          <a:prstGeom prst="ellipse">
            <a:avLst/>
          </a:prstGeom>
          <a:blipFill>
            <a:blip r:embed="rId6"/>
            <a:stretch>
              <a:fillRect l="-54669" t="-61228" r="-37833" b="-31274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7614303B-C588-A84C-71CA-383D70010D03}"/>
              </a:ext>
            </a:extLst>
          </p:cNvPr>
          <p:cNvSpPr/>
          <p:nvPr/>
        </p:nvSpPr>
        <p:spPr>
          <a:xfrm>
            <a:off x="653796" y="443484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33F4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AA397AC7-8E4D-C695-9068-717418B1EDE2}"/>
              </a:ext>
            </a:extLst>
          </p:cNvPr>
          <p:cNvSpPr/>
          <p:nvPr/>
        </p:nvSpPr>
        <p:spPr>
          <a:xfrm>
            <a:off x="867014" y="6192317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Hani</a:t>
            </a:r>
            <a:endParaRPr lang="en-US" sz="150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2DD597A-1C3B-22F9-C8BC-316842DD44CC}"/>
              </a:ext>
            </a:extLst>
          </p:cNvPr>
          <p:cNvSpPr/>
          <p:nvPr/>
        </p:nvSpPr>
        <p:spPr>
          <a:xfrm>
            <a:off x="1695786" y="4579004"/>
            <a:ext cx="1438940" cy="1430433"/>
          </a:xfrm>
          <a:prstGeom prst="ellipse">
            <a:avLst/>
          </a:prstGeom>
          <a:blipFill>
            <a:blip r:embed="rId7"/>
            <a:stretch>
              <a:fillRect l="-41448" t="-10878" r="-51054" b="-81624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C3FA3F20-AF78-57E3-8F98-DEBE561BFAD2}"/>
              </a:ext>
            </a:extLst>
          </p:cNvPr>
          <p:cNvSpPr/>
          <p:nvPr/>
        </p:nvSpPr>
        <p:spPr>
          <a:xfrm>
            <a:off x="4480560" y="442340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133F49"/>
          </a:solidFill>
          <a:ln w="12700">
            <a:solidFill>
              <a:srgbClr val="DBE7E9"/>
            </a:solidFill>
            <a:prstDash val="solid"/>
          </a:ln>
          <a:effectLst>
            <a:outerShdw blurRad="88900" dist="25400" dir="5400000" algn="bl" rotWithShape="0">
              <a:srgbClr val="0E2F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C97F722B-261A-5623-1868-5890D1F38C2F}"/>
              </a:ext>
            </a:extLst>
          </p:cNvPr>
          <p:cNvSpPr/>
          <p:nvPr/>
        </p:nvSpPr>
        <p:spPr>
          <a:xfrm>
            <a:off x="4693778" y="6180877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Saeed Yasser</a:t>
            </a:r>
            <a:endParaRPr lang="en-US" sz="1500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71DA969-2384-1A67-424B-2A0CDDE5A485}"/>
              </a:ext>
            </a:extLst>
          </p:cNvPr>
          <p:cNvSpPr/>
          <p:nvPr/>
        </p:nvSpPr>
        <p:spPr>
          <a:xfrm>
            <a:off x="5522550" y="4567564"/>
            <a:ext cx="1438940" cy="1430433"/>
          </a:xfrm>
          <a:prstGeom prst="ellipse">
            <a:avLst/>
          </a:prstGeom>
          <a:blipFill>
            <a:blip r:embed="rId8"/>
            <a:stretch>
              <a:fillRect l="-45203" t="-54367" r="-47299" b="-38135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560320"/>
            <a:ext cx="6400800" cy="6400800"/>
          </a:xfrm>
          <a:prstGeom prst="ellipse">
            <a:avLst/>
          </a:prstGeom>
          <a:solidFill>
            <a:srgbClr val="0E7C8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3291840"/>
            <a:ext cx="5486400" cy="5486400"/>
          </a:xfrm>
          <a:prstGeom prst="ellipse">
            <a:avLst/>
          </a:prstGeom>
          <a:solidFill>
            <a:srgbClr val="C8901F">
              <a:alpha val="11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INDUSTRIAL SECTOR PERFORMANCE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3246120" cy="749808"/>
          </a:xfrm>
          <a:prstGeom prst="roundRect">
            <a:avLst>
              <a:gd name="adj" fmla="val 12195"/>
            </a:avLst>
          </a:prstGeom>
          <a:solidFill>
            <a:srgbClr val="133F49"/>
          </a:solidFill>
          <a:ln w="12700">
            <a:solidFill>
              <a:srgbClr val="244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4700016"/>
            <a:ext cx="493776" cy="493776"/>
          </a:xfrm>
          <a:prstGeom prst="ellipse">
            <a:avLst/>
          </a:prstGeom>
          <a:solidFill>
            <a:srgbClr val="1B7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assets/icon_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" y="4823460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9344" y="45720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51960" y="4572000"/>
            <a:ext cx="3246120" cy="749808"/>
          </a:xfrm>
          <a:prstGeom prst="roundRect">
            <a:avLst>
              <a:gd name="adj" fmla="val 12195"/>
            </a:avLst>
          </a:prstGeom>
          <a:solidFill>
            <a:srgbClr val="133F49"/>
          </a:solidFill>
          <a:ln w="12700">
            <a:solidFill>
              <a:srgbClr val="244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4700016"/>
            <a:ext cx="493776" cy="493776"/>
          </a:xfrm>
          <a:prstGeom prst="ellipse">
            <a:avLst/>
          </a:prstGeom>
          <a:solidFill>
            <a:srgbClr val="DD821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assets/icon_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84" y="4823460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38344" y="45720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80960" y="4572000"/>
            <a:ext cx="3246120" cy="749808"/>
          </a:xfrm>
          <a:prstGeom prst="roundRect">
            <a:avLst>
              <a:gd name="adj" fmla="val 12195"/>
            </a:avLst>
          </a:prstGeom>
          <a:solidFill>
            <a:srgbClr val="133F49"/>
          </a:solidFill>
          <a:ln w="12700">
            <a:solidFill>
              <a:srgbClr val="244E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63840" y="4700016"/>
            <a:ext cx="493776" cy="493776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icon_lea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284" y="4823460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7344" y="4572000"/>
            <a:ext cx="2331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Sustainability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8F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 ·  In support of Egypt Vision 2030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1964</Words>
  <Application>Microsoft Office PowerPoint</Application>
  <PresentationFormat>Widescreen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Egypt's Industrial Sector Performance Analysis</dc:title>
  <dc:subject>PptxGenJS Presentation</dc:subject>
  <dc:creator>Frakto Team</dc:creator>
  <cp:lastModifiedBy>Mohamed Alaa Hefzi Zaki</cp:lastModifiedBy>
  <cp:revision>3</cp:revision>
  <dcterms:created xsi:type="dcterms:W3CDTF">2026-07-09T15:03:58Z</dcterms:created>
  <dcterms:modified xsi:type="dcterms:W3CDTF">2026-07-09T16:51:36Z</dcterms:modified>
</cp:coreProperties>
</file>